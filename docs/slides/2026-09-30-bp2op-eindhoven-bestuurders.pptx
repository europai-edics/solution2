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311 omzettabel-rijen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6E6E"/>
              </a:solidFill>
              <a:effectLst/>
            </c:spPr>
          </c:dPt>
          <c:dPt>
            <c:idx val="1"/>
            <c:bubble3D val="0"/>
            <c:spPr>
              <a:solidFill>
                <a:srgbClr val="5FA8A8"/>
              </a:solidFill>
              <a:effectLst/>
            </c:spPr>
          </c:dPt>
          <c:dPt>
            <c:idx val="2"/>
            <c:bubble3D val="0"/>
            <c:spPr>
              <a:solidFill>
                <a:srgbClr val="A7CDCD"/>
              </a:solidFill>
              <a:effectLst/>
            </c:spPr>
          </c:dPt>
          <c:dPt>
            <c:idx val="3"/>
            <c:bubble3D val="0"/>
            <c:spPr>
              <a:solidFill>
                <a:srgbClr val="C45C2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Kennisbank-gedreven (score 1,0)</c:v>
                </c:pt>
                <c:pt idx="1">
                  <c:v>Tekstgedrag voorstel</c:v>
                </c:pt>
                <c:pt idx="2">
                  <c:v>Nieuwe regel voorgesteld</c:v>
                </c:pt>
                <c:pt idx="3">
                  <c:v>Naar jurist (needs_human)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220</c:v>
                </c:pt>
                <c:pt idx="1">
                  <c:v>12</c:v>
                </c:pt>
                <c:pt idx="2">
                  <c:v>9</c:v>
                </c:pt>
                <c:pt idx="3">
                  <c:v>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A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Openen met de kern: de conversieopgave is te groot voor handwerk, en Eindhoven heeft nu een werkend, controleerbaar antwoord. De drie cijfers onderaan zijn de draad van de presentatie: 311 oude regels, 762 nieuwe, 220 koppelingen al onderbouwd door eerder vastgestelde conversies.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pijn eerst: Amsterdam heeft het doorgerekend — meer dan 1.000 uur per plan, landelijk honderden fte-jaren. Eindhoven heeft 370 plannen. De opgave is met handwerk niet te halen; de vraag is niet óf we versnellen, maar hoe we dat veilig doen.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machine die Amsterdam al gebruikt, nu werkend op Eindhovens eigen omgevingsplan. Het cruciale ontwerp: stap 5 is een mens. De AI doet de zware vergelijkingsarbeid; de koppeling wordt nooit zonder jurist vastgesteld.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donut is de kernboodschap: 220 van de 311 koppelingen zijn geen giswerk maar hergebruik van officiële eerdere besluiten — score 1,0. De 70 oranje rijen zijn geen falen maar eerlijkheid: precies daar waar een jurist moet kijken, staat dat ook. Snelheid: Amsterdam meet ruwweg twintig keer sneller dan handwerk.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Bestuurders vragen terecht: kan dit fout gaan? De twee zinnen zijn het antwoord. Zonder geverifieerde bron geen regel; zonder mens geen besluit. De drie mechanismen eronder zijn afdwingbaar en getest — de faalmodus van deze tool is 'weigeren en melden', niet 'gissen'.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strategische prijs: wat Eindhoven nu formaliseert, kan het eerste omgevingsplan in het landelijke corpus worden — herbruikbaar voor elke gemeente met dezelfde opgave. En de RegelRecht-engine is niet pas na de conversie nuttig: tijdens de conversie bewijst hij beleidsneutraliteit.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de vier konkreets: mandaat (klein: sprints), landelijke bijdrage (naamsbekendheid en hergebruik), standaardisering van de veiligheidsnorm, en de live demo. Bied aan de demo direct te openen — interactief bewijs overtuigt meer dan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POC-2 · LDT-TOOLBOX · GEMEENTE EINDHOVEN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bestemmingsplan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omgevingsplan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Bewezen in Eindhoven — AI ondersteunt, de jurist beslist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5577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oude regels in kaart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4709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749040" y="5577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nieuwe regels gekoppeld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0" y="4709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949440" y="5577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koppelingen al bewezen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16952" y="384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september 2026 · bestuurlijke presentatie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OPGAVE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Handmatige conversie overschrijdt de capaciteit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1.000+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uur werk per bestemmingsplan bij handmatige omzetting — de schatting van gemeente Amsterdam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719072"/>
            <a:ext cx="5605272" cy="0"/>
          </a:xfrm>
          <a:prstGeom prst="line">
            <a:avLst/>
          </a:prstGeom>
          <a:noFill/>
          <a:ln w="9525">
            <a:solidFill>
              <a:srgbClr val="D8D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828800"/>
            <a:ext cx="5605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 plannen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 Eindhovense portefeuille — 338 vastgesteld, 18 via TAM-conversie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35040" y="3044952"/>
            <a:ext cx="5605272" cy="0"/>
          </a:xfrm>
          <a:prstGeom prst="line">
            <a:avLst/>
          </a:prstGeom>
          <a:noFill/>
          <a:ln w="9525">
            <a:solidFill>
              <a:srgbClr val="D8D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3154680"/>
            <a:ext cx="5605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450 fte-jaren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landelijke werkvoorraad bij dezelfde rekensom — ondoenbaar zonder versnelling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4370832"/>
            <a:ext cx="5605272" cy="0"/>
          </a:xfrm>
          <a:prstGeom prst="line">
            <a:avLst/>
          </a:prstGeom>
          <a:noFill/>
          <a:ln w="9525">
            <a:solidFill>
              <a:srgbClr val="D8DC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480560"/>
            <a:ext cx="5605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Wettelijke klok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tijdelijk deel (bruidschat) loopt af: elke oude regel moet naar nieuw recht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2362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VNG-netwerksessie “Van bestemmingsplan naar omgevingsplan met AI”, 19 juni 2026 (gemeente Amsterdam, tool Plangids) · Planviewer-inventaris gemeente Eindhoven.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83112" y="320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AANPAK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regel gekoppeld, elke conversie hergebruikt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7400" cy="2286000"/>
          </a:xfrm>
          <a:prstGeom prst="roundRect">
            <a:avLst>
              <a:gd name="adj" fmla="val 2667"/>
            </a:avLst>
          </a:prstGeom>
          <a:solidFill>
            <a:srgbClr val="E7F1F0"/>
          </a:solidFill>
          <a:ln w="9525">
            <a:solidFill>
              <a:srgbClr val="C9DB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122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6243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Inlezen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3026664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Officiële publicatie woord voor woord: 311 oude regels (hfd 22/23), 762 nieuwe (hfd 1–21)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62072" y="1965960"/>
            <a:ext cx="2057400" cy="2286000"/>
          </a:xfrm>
          <a:prstGeom prst="roundRect">
            <a:avLst>
              <a:gd name="adj" fmla="val 2667"/>
            </a:avLst>
          </a:prstGeom>
          <a:solidFill>
            <a:srgbClr val="E7F1F0"/>
          </a:solidFill>
          <a:ln w="9525">
            <a:solidFill>
              <a:srgbClr val="C9D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21122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26664" y="26243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Kennisbank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26664" y="3026664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274 conversies die het college eerder vaststelde, hergebruikt als bewijs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75504" y="1965960"/>
            <a:ext cx="2057400" cy="2286000"/>
          </a:xfrm>
          <a:prstGeom prst="roundRect">
            <a:avLst>
              <a:gd name="adj" fmla="val 2667"/>
            </a:avLst>
          </a:prstGeom>
          <a:solidFill>
            <a:srgbClr val="E7F1F0"/>
          </a:solidFill>
          <a:ln w="9525">
            <a:solidFill>
              <a:srgbClr val="C9DB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21122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40096" y="26243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Voorstellen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40096" y="3026664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oude regel krijgt gescoorde koppelingen — AI stelt voor, beslist nooit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87184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88936" y="1965960"/>
            <a:ext cx="2057400" cy="2286000"/>
          </a:xfrm>
          <a:prstGeom prst="roundRect">
            <a:avLst>
              <a:gd name="adj" fmla="val 2667"/>
            </a:avLst>
          </a:prstGeom>
          <a:solidFill>
            <a:srgbClr val="E7F1F0"/>
          </a:solidFill>
          <a:ln w="9525">
            <a:solidFill>
              <a:srgbClr val="C9DB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21122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653528" y="26243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Omzettabel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53528" y="3026664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Precies één rij per oude regel, met citaat, bron en permalink per regel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0616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02368" y="1965960"/>
            <a:ext cx="2057400" cy="2286000"/>
          </a:xfrm>
          <a:prstGeom prst="roundRect">
            <a:avLst>
              <a:gd name="adj" fmla="val 2667"/>
            </a:avLst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1122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966960" y="2624328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966960" y="3026664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Toetst elke rij; twijfel gaat er heen (70 rijen), nooit andersom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stap afzonderlijk gecontroleerd: letterlijk citaat, permalink, onafhankelijke herberekening (validatie V0–V4)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2362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poc-bp2op — canonieke run 2026-08-30 over het Omgevingsplan gemeente Eindhoven (CVDR696400/4); methode: Amsterdams aanpak / Plangids.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83112" y="320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BEWIJS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de run over 311 regels aantoonde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828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503920" y="193852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alle rijen direct sterk onderbouwd — 220 door eerder vastgestelde conversies met score 1,0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58000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503920" y="331012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match-ratio op het best bereikte brondocument — status “deels gereed”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0" y="4572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503920" y="468172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rijen eerlijk naar de jurist: daar waar twijfel terecht is, staat dat in het rapport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2362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poc-bp2op, canonieke run 20260830-124515-eindhoven: 311 bronregels · 762 doelregels · 274 kennisbank-relaties. Cijfers 75% en 20× zijn Amsterdams schattingen.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83112" y="320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DIT VEILIG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regels die niet onderhandeld worden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citaat, geen regel.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mens, geen besluit.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4087368"/>
            <a:ext cx="128016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977640"/>
            <a:ext cx="1079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AI-koppeling bestaat niet — </a:t>
            </a:r>
            <a:pPr indent="0" marL="0">
              <a:buNone/>
            </a:pPr>
            <a:r>
              <a:rPr lang="en-US" sz="15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status “gekoppeld door AI” is technisch afwezig — een test staat er voor in de plaats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128016" cy="128016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690872"/>
            <a:ext cx="1079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is letterlijk — </a:t>
            </a:r>
            <a:pPr indent="0" marL="0">
              <a:buNone/>
            </a:pPr>
            <a:r>
              <a:rPr lang="en-US" sz="15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brontekst komt woord voor woord uit de officiële publicatie, met dieptelink naar het CVDR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5513832"/>
            <a:ext cx="128016" cy="128016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5404104"/>
            <a:ext cx="1079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Dubbel gecontroleerd — </a:t>
            </a:r>
            <a:pPr indent="0" marL="0">
              <a:buNone/>
            </a:pPr>
            <a:r>
              <a:rPr lang="en-US" sz="15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onafhankelijke tweede matcher herscoort elke tekstsuggestie; afwijking wordt gemeld, niet genegeerd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62362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poc-bp2op validatie V0–V4 (verbatim-grounding, onafhankelijke Jaccard-hermatching, altijd pendente jurittoets).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83112" y="320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 AANSLUITING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gemeente in het landelijke corpus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van 22.000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26280" y="1783080"/>
            <a:ext cx="7114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wetten in het landelijke RegelRecht-corpus is een gemeentelijke verordening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355848"/>
            <a:ext cx="3560064" cy="0"/>
          </a:xfrm>
          <a:prstGeom prst="line">
            <a:avLst/>
          </a:prstGeom>
          <a:noFill/>
          <a:ln w="12700">
            <a:solidFill>
              <a:srgbClr val="D8DC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219456" cy="219456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3063240"/>
            <a:ext cx="323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560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Doelregeling geldt al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hoofdstukken 1–21 zijn geldend recht — uitvoerbaar te maken met de engine van vandaag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7304" y="3355848"/>
            <a:ext cx="3560064" cy="0"/>
          </a:xfrm>
          <a:prstGeom prst="line">
            <a:avLst/>
          </a:prstGeom>
          <a:noFill/>
          <a:ln w="12700">
            <a:solidFill>
              <a:srgbClr val="D8DC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7304" y="3246120"/>
            <a:ext cx="219456" cy="219456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6488" y="3063240"/>
            <a:ext cx="323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TIJDENS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37304" y="3611880"/>
            <a:ext cx="3560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Equivalentie-orakel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oude en nieuwe regel krijgen dezelfde feiten: zelfde uitkomst = beleidsneutraal bewezen; afwijking = naar de jurist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25968" y="3355848"/>
            <a:ext cx="3560064" cy="0"/>
          </a:xfrm>
          <a:prstGeom prst="line">
            <a:avLst/>
          </a:prstGeom>
          <a:noFill/>
          <a:ln w="12700">
            <a:solidFill>
              <a:srgbClr val="D8DC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5968" y="3246120"/>
            <a:ext cx="219456" cy="219456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6" name="Text 14"/>
          <p:cNvSpPr/>
          <p:nvPr/>
        </p:nvSpPr>
        <p:spPr>
          <a:xfrm>
            <a:off x="8455152" y="3063240"/>
            <a:ext cx="323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5968" y="3611880"/>
            <a:ext cx="3560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2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Uitvoerbaar omgevingsplan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één keer formaliseren, daarna hergebruik: beleidsanalyse, vergunningscheck, burgerinformatie (regels.overheid.nl)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62362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RegelRecht (MinBZK, EUPL-1.2) — corpus 22.000 wet-YAML's, gemeentelijke laag aanwezig maar leeg · analyse: docs/POC_REGELRECHT_INTEGRATION.md.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83112" y="320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VERZOEK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besluiten om door te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5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Geef mandaat — </a:t>
            </a:r>
            <a:pPr indent="0" marL="0">
              <a:buNone/>
            </a:pPr>
            <a:r>
              <a:rPr lang="en-US" sz="1650" dirty="0">
                <a:solidFill>
                  <a:srgbClr val="B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de volledige export van het omgevingsplan én een pilot met het equivalentie-orakel — dagen tot enkele sprints, geen maanden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554480" y="27157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Draag bij aan het landelijk corpus — </a:t>
            </a:r>
            <a:pPr indent="0" marL="0">
              <a:buNone/>
            </a:pPr>
            <a:r>
              <a:rPr lang="en-US" sz="1650" dirty="0">
                <a:solidFill>
                  <a:srgbClr val="B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Eindhovens omgevingsplan als eerste gemeentelijke verordening in RegelRecht — open, herbruikbaar, gecontroleerd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369417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3739896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de werkwijze de standaard — </a:t>
            </a:r>
            <a:pPr indent="0" marL="0">
              <a:buNone/>
            </a:pPr>
            <a:r>
              <a:rPr lang="en-US" sz="1650" dirty="0">
                <a:solidFill>
                  <a:srgbClr val="B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citaat geen regel, geen mens geen besluit — als vaste norm voor AI-assistentie bij regelgeving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8640" y="471830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554480" y="4764024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 het zelf werken — </a:t>
            </a:r>
            <a:pPr indent="0" marL="0">
              <a:buNone/>
            </a:pPr>
            <a:r>
              <a:rPr lang="en-US" sz="1650" dirty="0">
                <a:solidFill>
                  <a:srgbClr val="B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werkende demonstratie (regelrecht-demo.html) draait vanaf vandaag op elke laptop, zonder koppelingen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Eindhoven als referentie voor elke gemeente met dezelfde opgave.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bestemmingsplan naar omgevingsplan — bewezen in Eindhoven</dc:title>
  <dc:subject>PptxGenJS Presentation</dc:subject>
  <dc:creator>LDT-toolbox</dc:creator>
  <cp:lastModifiedBy>LDT-toolbox</cp:lastModifiedBy>
  <cp:revision>1</cp:revision>
  <dcterms:created xsi:type="dcterms:W3CDTF">2026-09-30T08:43:16Z</dcterms:created>
  <dcterms:modified xsi:type="dcterms:W3CDTF">2026-09-30T08:43:16Z</dcterms:modified>
</cp:coreProperties>
</file>